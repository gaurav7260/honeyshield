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F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age(20261025-06103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02920"/>
            <a:ext cx="1234440" cy="1234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5960" y="65836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2ABEBE"/>
                </a:solidFill>
                <a:latin typeface="Aptos"/>
              </a:rPr>
              <a:t>SHIVALIK UNIVERSITY  |  B.TECH CSE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HONEYSHIELD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3464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Evaluating Honey-Token Enforcement at Tool-Call Boundaries\nin RAG-Based LLM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2ABEBE"/>
                </a:solidFill>
                <a:latin typeface="Aptos"/>
              </a:rPr>
              <a:t>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Students\nGourav Kumar  •  Nimesh Singh Rana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Department: B.Tech CSE</a:t>
            </a:r>
          </a:p>
        </p:txBody>
      </p:sp>
      <p:sp>
        <p:nvSpPr>
          <p:cNvPr id="10" name="Oval 9"/>
          <p:cNvSpPr/>
          <p:nvPr/>
        </p:nvSpPr>
        <p:spPr>
          <a:xfrm>
            <a:off x="9418320" y="4297680"/>
            <a:ext cx="201168" cy="201168"/>
          </a:xfrm>
          <a:prstGeom prst="ellipse">
            <a:avLst/>
          </a:prstGeom>
          <a:solidFill>
            <a:srgbClr val="2A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0424160" y="4800600"/>
            <a:ext cx="201168" cy="201168"/>
          </a:xfrm>
          <a:prstGeom prst="ellipse">
            <a:avLst/>
          </a:prstGeom>
          <a:solidFill>
            <a:srgbClr val="2A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235440" y="5303520"/>
            <a:ext cx="201168" cy="201168"/>
          </a:xfrm>
          <a:prstGeom prst="ellipse">
            <a:avLst/>
          </a:prstGeom>
          <a:solidFill>
            <a:srgbClr val="2A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0972800" y="3977639"/>
            <a:ext cx="201168" cy="201168"/>
          </a:xfrm>
          <a:prstGeom prst="ellipse">
            <a:avLst/>
          </a:prstGeom>
          <a:solidFill>
            <a:srgbClr val="2A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4" name="Connector 13"/>
          <p:cNvCxnSpPr/>
          <p:nvPr/>
        </p:nvCxnSpPr>
        <p:spPr>
          <a:xfrm>
            <a:off x="9518904" y="4398264"/>
            <a:ext cx="996696" cy="502920"/>
          </a:xfrm>
          <a:prstGeom prst="line">
            <a:avLst/>
          </a:prstGeom>
          <a:ln w="25400">
            <a:solidFill>
              <a:srgbClr val="2A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336024" y="4901184"/>
            <a:ext cx="1179576" cy="502920"/>
          </a:xfrm>
          <a:prstGeom prst="line">
            <a:avLst/>
          </a:prstGeom>
          <a:ln w="25400">
            <a:solidFill>
              <a:srgbClr val="2A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518904" y="4078224"/>
            <a:ext cx="1545336" cy="320040"/>
          </a:xfrm>
          <a:prstGeom prst="line">
            <a:avLst/>
          </a:prstGeom>
          <a:ln w="25400">
            <a:solidFill>
              <a:srgbClr val="2A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2ABEBE"/>
                </a:solidFill>
                <a:latin typeface="Aptos"/>
              </a:rPr>
              <a:t>01 ·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The security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2A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520440" cy="1920240"/>
          </a:xfrm>
          <a:prstGeom prst="roundRect">
            <a:avLst/>
          </a:prstGeom>
          <a:solidFill>
            <a:srgbClr val="1C2D46"/>
          </a:solidFill>
          <a:ln>
            <a:solidFill>
              <a:srgbClr val="34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18288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RAG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58568"/>
            <a:ext cx="3154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Retrieved documents are added to the model context. They may contain sensitive content or a synthetic canary.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91640"/>
            <a:ext cx="3520440" cy="1920240"/>
          </a:xfrm>
          <a:prstGeom prst="roundRect">
            <a:avLst/>
          </a:prstGeom>
          <a:solidFill>
            <a:srgbClr val="1C2D46"/>
          </a:solidFill>
          <a:ln>
            <a:solidFill>
              <a:srgbClr val="34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26280" y="18288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TOOL ARGUMENTS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258568"/>
            <a:ext cx="3154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A model may place that content in structured arguments sent to a tool.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91640"/>
            <a:ext cx="3520440" cy="1920240"/>
          </a:xfrm>
          <a:prstGeom prst="roundRect">
            <a:avLst/>
          </a:prstGeom>
          <a:solidFill>
            <a:srgbClr val="1C2D46"/>
          </a:solidFill>
          <a:ln>
            <a:solidFill>
              <a:srgbClr val="34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OUTPUT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58568"/>
            <a:ext cx="3154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A final-answer filter may act too late if the tool call has already been dispatched.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Research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Does checking tool-call arguments before dispatch, alongside final-output filtering, reduce synthetic-canary disclosure?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2ABEBE"/>
                </a:solidFill>
                <a:latin typeface="Aptos"/>
              </a:rPr>
              <a:t>02 ·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Core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2A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520440" cy="1600200"/>
          </a:xfrm>
          <a:prstGeom prst="roundRect">
            <a:avLst/>
          </a:prstGeom>
          <a:solidFill>
            <a:srgbClr val="1C2D46"/>
          </a:solidFill>
          <a:ln>
            <a:solidFill>
              <a:srgbClr val="34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17830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12848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Retrieve relevant records and include them in model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520440" cy="1600200"/>
          </a:xfrm>
          <a:prstGeom prst="roundRect">
            <a:avLst/>
          </a:prstGeom>
          <a:solidFill>
            <a:srgbClr val="1C2D46"/>
          </a:solidFill>
          <a:ln>
            <a:solidFill>
              <a:srgbClr val="34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26280" y="17830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SYNTHETIC CANARY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212848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A unique test-only marker used to detect unintended movement of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520440" cy="1600200"/>
          </a:xfrm>
          <a:prstGeom prst="roundRect">
            <a:avLst/>
          </a:prstGeom>
          <a:solidFill>
            <a:srgbClr val="1C2D46"/>
          </a:solidFill>
          <a:ln>
            <a:solidFill>
              <a:srgbClr val="34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TOOL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12848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The application point before a proposed tool call is actually dispatched.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3703320"/>
            <a:ext cx="3520440" cy="1600200"/>
          </a:xfrm>
          <a:prstGeom prst="roundRect">
            <a:avLst/>
          </a:prstGeom>
          <a:solidFill>
            <a:srgbClr val="1C2D46"/>
          </a:solidFill>
          <a:ln>
            <a:solidFill>
              <a:srgbClr val="34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697480" y="38404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OUTPUT FILTERING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4270248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Inspect final assistant text before releasing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03320"/>
            <a:ext cx="3520440" cy="1600200"/>
          </a:xfrm>
          <a:prstGeom prst="roundRect">
            <a:avLst/>
          </a:prstGeom>
          <a:solidFill>
            <a:srgbClr val="1C2D46"/>
          </a:solidFill>
          <a:ln>
            <a:solidFill>
              <a:srgbClr val="34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0" y="38404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BASE64-AWARE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70248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Decode eligible Base64 text and inspect the decoded content; Base64 is encoding, not encryption.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2ABEBE"/>
                </a:solidFill>
                <a:latin typeface="Aptos"/>
              </a:rPr>
              <a:t>03 ·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Architecture &amp; enforcement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2A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11480" y="2194560"/>
            <a:ext cx="1417320" cy="1051560"/>
          </a:xfrm>
          <a:prstGeom prst="roundRect">
            <a:avLst/>
          </a:prstGeom>
          <a:solidFill>
            <a:srgbClr val="1C2D46"/>
          </a:solidFill>
          <a:ln>
            <a:solidFill>
              <a:srgbClr val="4B5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21208" y="230428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78608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Prompt + synthetic context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2724912"/>
            <a:ext cx="210312" cy="0"/>
          </a:xfrm>
          <a:prstGeom prst="line">
            <a:avLst/>
          </a:prstGeom>
          <a:ln w="25400">
            <a:solidFill>
              <a:srgbClr val="2A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57400" y="2194560"/>
            <a:ext cx="1417320" cy="1051560"/>
          </a:xfrm>
          <a:prstGeom prst="roundRect">
            <a:avLst/>
          </a:prstGeom>
          <a:solidFill>
            <a:srgbClr val="1C2D46"/>
          </a:solidFill>
          <a:ln>
            <a:solidFill>
              <a:srgbClr val="4B5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167128" y="230428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578608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Local LLM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74720" y="2724912"/>
            <a:ext cx="210312" cy="0"/>
          </a:xfrm>
          <a:prstGeom prst="line">
            <a:avLst/>
          </a:prstGeom>
          <a:ln w="25400">
            <a:solidFill>
              <a:srgbClr val="2A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03320" y="2194560"/>
            <a:ext cx="1417320" cy="1051560"/>
          </a:xfrm>
          <a:prstGeom prst="roundRect">
            <a:avLst/>
          </a:prstGeom>
          <a:solidFill>
            <a:srgbClr val="1C2D46"/>
          </a:solidFill>
          <a:ln>
            <a:solidFill>
              <a:srgbClr val="4B5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813048" y="230428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59" y="2578608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Structured decision parser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20640" y="2724912"/>
            <a:ext cx="210312" cy="0"/>
          </a:xfrm>
          <a:prstGeom prst="line">
            <a:avLst/>
          </a:prstGeom>
          <a:ln w="25400">
            <a:solidFill>
              <a:srgbClr val="2A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49240" y="2194560"/>
            <a:ext cx="1417320" cy="1051560"/>
          </a:xfrm>
          <a:prstGeom prst="roundRect">
            <a:avLst/>
          </a:prstGeom>
          <a:solidFill>
            <a:srgbClr val="1C2D46"/>
          </a:solidFill>
          <a:ln>
            <a:solidFill>
              <a:srgbClr val="2A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58968" y="230428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79" y="2578608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Pre-dispatch guard (C)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66559" y="2724912"/>
            <a:ext cx="210313" cy="0"/>
          </a:xfrm>
          <a:prstGeom prst="line">
            <a:avLst/>
          </a:prstGeom>
          <a:ln w="25400">
            <a:solidFill>
              <a:srgbClr val="2A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995160" y="2194560"/>
            <a:ext cx="1417320" cy="1051560"/>
          </a:xfrm>
          <a:prstGeom prst="roundRect">
            <a:avLst/>
          </a:prstGeom>
          <a:solidFill>
            <a:srgbClr val="1C2D46"/>
          </a:solidFill>
          <a:ln>
            <a:solidFill>
              <a:srgbClr val="4B5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04888" y="230428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578608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Allowlisted mock tool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12480" y="2724912"/>
            <a:ext cx="210312" cy="0"/>
          </a:xfrm>
          <a:prstGeom prst="line">
            <a:avLst/>
          </a:prstGeom>
          <a:ln w="25400">
            <a:solidFill>
              <a:srgbClr val="2A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641080" y="2194560"/>
            <a:ext cx="1417320" cy="1051560"/>
          </a:xfrm>
          <a:prstGeom prst="roundRect">
            <a:avLst/>
          </a:prstGeom>
          <a:solidFill>
            <a:srgbClr val="1C2D46"/>
          </a:solidFill>
          <a:ln>
            <a:solidFill>
              <a:srgbClr val="2A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750807" y="230428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19" y="2578608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Final output guard (B/C)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58400" y="2724912"/>
            <a:ext cx="210311" cy="0"/>
          </a:xfrm>
          <a:prstGeom prst="line">
            <a:avLst/>
          </a:prstGeom>
          <a:ln w="25400">
            <a:solidFill>
              <a:srgbClr val="2AB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287000" y="2194560"/>
            <a:ext cx="1417320" cy="1051560"/>
          </a:xfrm>
          <a:prstGeom prst="roundRect">
            <a:avLst/>
          </a:prstGeom>
          <a:solidFill>
            <a:srgbClr val="1C2D46"/>
          </a:solidFill>
          <a:ln>
            <a:solidFill>
              <a:srgbClr val="4B5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396728" y="230428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78440" y="2578608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Released 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886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A · Baseline: no canary-specific guard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4805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B · Output-only: inspect final answer, not pre-dispatch arguments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0749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2ABEBE"/>
                </a:solidFill>
                <a:latin typeface="Aptos"/>
              </a:rPr>
              <a:t>C · Boundary + output: inspect arguments before dispatch and final answer before release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2ABEBE"/>
                </a:solidFill>
                <a:latin typeface="Aptos"/>
              </a:rPr>
              <a:t>04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Experimental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2A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520440" cy="1828800"/>
          </a:xfrm>
          <a:prstGeom prst="roundRect">
            <a:avLst/>
          </a:prstGeom>
          <a:solidFill>
            <a:srgbClr val="1C2D46"/>
          </a:solidFill>
          <a:ln>
            <a:solidFill>
              <a:srgbClr val="34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17830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PAIRED LIVE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12848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10 repetitions × 3 scenarios × 3 configurations = 90 rows. The same model decision is replayed across A/B/C.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520440" cy="1828800"/>
          </a:xfrm>
          <a:prstGeom prst="roundRect">
            <a:avLst/>
          </a:prstGeom>
          <a:solidFill>
            <a:srgbClr val="1C2D46"/>
          </a:solidFill>
          <a:ln>
            <a:solidFill>
              <a:srgbClr val="34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26280" y="17830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GUARD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212848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</a:rPr>
              <a:t>Fresh-canary holdout-style set: 26 full positives, 31 benign, 7 edge cases.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520440" cy="1828800"/>
          </a:xfrm>
          <a:prstGeom prst="roundRect">
            <a:avLst/>
          </a:prstGeom>
          <a:solidFill>
            <a:srgbClr val="1C2D46"/>
          </a:solidFill>
          <a:ln>
            <a:solidFill>
              <a:srgbClr val="34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STRESS + 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12848"/>
            <a:ext cx="3154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</a:rPr>
              <a:t>Stress sets: 50 positive and 100 benign cases; guard-only timing also measured.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77639"/>
            <a:ext cx="10424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Only synthetic canaries and a harmless local mock tool were used.</a:t>
            </a:r>
          </a:p>
          <a:p>
            <a:r>
              <a:rPr>
                <a:solidFill>
                  <a:srgbClr val="F8FAFC"/>
                </a:solidFill>
                <a:latin typeface="Aptos"/>
              </a:rPr>
              <a:t>Invalid model decisions were recorded rather than counted as successes.</a:t>
            </a:r>
          </a:p>
          <a:p>
            <a:r>
              <a:rPr>
                <a:solidFill>
                  <a:srgbClr val="F8FAFC"/>
                </a:solidFill>
                <a:latin typeface="Aptos"/>
              </a:rPr>
              <a:t>Constructed tests are useful coverage checks, not a broad real-world benchmark.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2ABEBE"/>
                </a:solidFill>
                <a:latin typeface="Aptos"/>
              </a:rPr>
              <a:t>05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Paired live pilot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2A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383280" cy="685800"/>
          </a:xfrm>
          <a:prstGeom prst="rect">
            <a:avLst/>
          </a:prstGeom>
          <a:solidFill>
            <a:srgbClr val="23405A"/>
          </a:solidFill>
          <a:ln>
            <a:solidFill>
              <a:srgbClr val="3C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1901952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Configuration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737360"/>
            <a:ext cx="2468880" cy="685800"/>
          </a:xfrm>
          <a:prstGeom prst="rect">
            <a:avLst/>
          </a:prstGeom>
          <a:solidFill>
            <a:srgbClr val="23405A"/>
          </a:solidFill>
          <a:ln>
            <a:solidFill>
              <a:srgbClr val="3C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187952" y="1901952"/>
            <a:ext cx="2322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Canary disclosures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737360"/>
            <a:ext cx="2377440" cy="685800"/>
          </a:xfrm>
          <a:prstGeom prst="rect">
            <a:avLst/>
          </a:prstGeom>
          <a:solidFill>
            <a:srgbClr val="23405A"/>
          </a:solidFill>
          <a:ln>
            <a:solidFill>
              <a:srgbClr val="3C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56832" y="1901952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Boundary blocks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737360"/>
            <a:ext cx="2468880" cy="685800"/>
          </a:xfrm>
          <a:prstGeom prst="rect">
            <a:avLst/>
          </a:prstGeom>
          <a:solidFill>
            <a:srgbClr val="23405A"/>
          </a:solidFill>
          <a:ln>
            <a:solidFill>
              <a:srgbClr val="3C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034272" y="1901952"/>
            <a:ext cx="2322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Output blocks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23160"/>
            <a:ext cx="3383280" cy="685800"/>
          </a:xfrm>
          <a:prstGeom prst="rect">
            <a:avLst/>
          </a:prstGeom>
          <a:solidFill>
            <a:srgbClr val="192A40"/>
          </a:solidFill>
          <a:ln>
            <a:solidFill>
              <a:srgbClr val="3C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" y="2587752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A ·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2423160"/>
            <a:ext cx="2468880" cy="685800"/>
          </a:xfrm>
          <a:prstGeom prst="rect">
            <a:avLst/>
          </a:prstGeom>
          <a:solidFill>
            <a:srgbClr val="192A40"/>
          </a:solidFill>
          <a:ln>
            <a:solidFill>
              <a:srgbClr val="3C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187952" y="2587752"/>
            <a:ext cx="2322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20 / 29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423160"/>
            <a:ext cx="2377440" cy="685800"/>
          </a:xfrm>
          <a:prstGeom prst="rect">
            <a:avLst/>
          </a:prstGeom>
          <a:solidFill>
            <a:srgbClr val="192A40"/>
          </a:solidFill>
          <a:ln>
            <a:solidFill>
              <a:srgbClr val="3C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56832" y="2587752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2423160"/>
            <a:ext cx="2468880" cy="685800"/>
          </a:xfrm>
          <a:prstGeom prst="rect">
            <a:avLst/>
          </a:prstGeom>
          <a:solidFill>
            <a:srgbClr val="192A40"/>
          </a:solidFill>
          <a:ln>
            <a:solidFill>
              <a:srgbClr val="3C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34272" y="2587752"/>
            <a:ext cx="2322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108960"/>
            <a:ext cx="3383280" cy="685800"/>
          </a:xfrm>
          <a:prstGeom prst="rect">
            <a:avLst/>
          </a:prstGeom>
          <a:solidFill>
            <a:srgbClr val="192A40"/>
          </a:solidFill>
          <a:ln>
            <a:solidFill>
              <a:srgbClr val="3C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04672" y="3273552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B · Output-only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3108960"/>
            <a:ext cx="2468880" cy="685800"/>
          </a:xfrm>
          <a:prstGeom prst="rect">
            <a:avLst/>
          </a:prstGeom>
          <a:solidFill>
            <a:srgbClr val="192A40"/>
          </a:solidFill>
          <a:ln>
            <a:solidFill>
              <a:srgbClr val="3C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187952" y="3273552"/>
            <a:ext cx="2322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10 / 29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108960"/>
            <a:ext cx="2377440" cy="685800"/>
          </a:xfrm>
          <a:prstGeom prst="rect">
            <a:avLst/>
          </a:prstGeom>
          <a:solidFill>
            <a:srgbClr val="192A40"/>
          </a:solidFill>
          <a:ln>
            <a:solidFill>
              <a:srgbClr val="3C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56832" y="3273552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3108960"/>
            <a:ext cx="2468880" cy="685800"/>
          </a:xfrm>
          <a:prstGeom prst="rect">
            <a:avLst/>
          </a:prstGeom>
          <a:solidFill>
            <a:srgbClr val="192A40"/>
          </a:solidFill>
          <a:ln>
            <a:solidFill>
              <a:srgbClr val="3C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34272" y="3273552"/>
            <a:ext cx="2322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794760"/>
            <a:ext cx="3383280" cy="685800"/>
          </a:xfrm>
          <a:prstGeom prst="rect">
            <a:avLst/>
          </a:prstGeom>
          <a:solidFill>
            <a:srgbClr val="184448"/>
          </a:solidFill>
          <a:ln>
            <a:solidFill>
              <a:srgbClr val="3C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04672" y="3959352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2ABEBE"/>
                </a:solidFill>
                <a:latin typeface="Aptos"/>
              </a:rPr>
              <a:t>C · Boundary + 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3794760"/>
            <a:ext cx="2468880" cy="685800"/>
          </a:xfrm>
          <a:prstGeom prst="rect">
            <a:avLst/>
          </a:prstGeom>
          <a:solidFill>
            <a:srgbClr val="184448"/>
          </a:solidFill>
          <a:ln>
            <a:solidFill>
              <a:srgbClr val="3C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187952" y="3959352"/>
            <a:ext cx="2322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0 / 29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3794760"/>
            <a:ext cx="2377440" cy="685800"/>
          </a:xfrm>
          <a:prstGeom prst="rect">
            <a:avLst/>
          </a:prstGeom>
          <a:solidFill>
            <a:srgbClr val="184448"/>
          </a:solidFill>
          <a:ln>
            <a:solidFill>
              <a:srgbClr val="3C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656832" y="3959352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3794760"/>
            <a:ext cx="2468880" cy="685800"/>
          </a:xfrm>
          <a:prstGeom prst="rect">
            <a:avLst/>
          </a:prstGeom>
          <a:solidFill>
            <a:srgbClr val="184448"/>
          </a:solidFill>
          <a:ln>
            <a:solidFill>
              <a:srgbClr val="3C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34272" y="3959352"/>
            <a:ext cx="2322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6177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In the tool-canary scenario, C blocked all 10 tested calls before mock dispatch.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25780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BECCDC"/>
                </a:solidFill>
                <a:latin typeface="Aptos"/>
              </a:rPr>
              <a:t>One benign model decision was invalid; each configuration had 29 valid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2ABEBE"/>
                </a:solidFill>
                <a:latin typeface="Aptos"/>
              </a:rPr>
              <a:t>06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Guard evaluation &amp; latency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2A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520440" cy="1920240"/>
          </a:xfrm>
          <a:prstGeom prst="roundRect">
            <a:avLst/>
          </a:prstGeom>
          <a:solidFill>
            <a:srgbClr val="1C2D46"/>
          </a:solidFill>
          <a:ln>
            <a:solidFill>
              <a:srgbClr val="34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17830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V3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12848"/>
            <a:ext cx="3154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</a:rPr>
              <a:t>26 / 26 full positives detected in the included fresh-canary holdout-style CSV.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520440" cy="1920240"/>
          </a:xfrm>
          <a:prstGeom prst="roundRect">
            <a:avLst/>
          </a:prstGeom>
          <a:solidFill>
            <a:srgbClr val="1C2D46"/>
          </a:solidFill>
          <a:ln>
            <a:solidFill>
              <a:srgbClr val="34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26280" y="17830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BENIGN SAMPLE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212848"/>
            <a:ext cx="3154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</a:rPr>
              <a:t>0 / 31 constructed benign cases blocked in that CSV.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520440" cy="1920240"/>
          </a:xfrm>
          <a:prstGeom prst="roundRect">
            <a:avLst/>
          </a:prstGeom>
          <a:solidFill>
            <a:srgbClr val="1C2D46"/>
          </a:solidFill>
          <a:ln>
            <a:solidFill>
              <a:srgbClr val="34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GUARD-ONLY MEDIAN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12848"/>
            <a:ext cx="3154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Baseline ≈ 0.002 ms; v3 ≈ 0.015–0.047 ms depending on input.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BECCDC"/>
                </a:solidFill>
                <a:latin typeface="Aptos"/>
              </a:rPr>
              <a:t>Interpret carefully: small constructed samples; no claim of universal detection or real-world 0% false-positive 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2ABEBE"/>
                </a:solidFill>
                <a:latin typeface="Aptos"/>
              </a:rPr>
              <a:t>07 ·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Literature &amp; defensible novelty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2A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Prior work already studies canary-based leak detection, honey-tokens and runtime tool-call enforcement.</a:t>
            </a:r>
          </a:p>
          <a:p>
            <a:r>
              <a:rPr>
                <a:solidFill>
                  <a:srgbClr val="F8FAFC"/>
                </a:solidFill>
                <a:latin typeface="Aptos"/>
              </a:rPr>
              <a:t>HoneyShield does not claim to invent canaries, Base64 checking or pre-execution enforcement.</a:t>
            </a:r>
          </a:p>
          <a:p>
            <a:r>
              <a:rPr>
                <a:solidFill>
                  <a:srgbClr val="F8FAFC"/>
                </a:solidFill>
                <a:latin typeface="Aptos"/>
              </a:rPr>
              <a:t>Contribution: paired implementation-level comparison of enforcement placement using shared model decisions.</a:t>
            </a:r>
          </a:p>
          <a:p>
            <a:r>
              <a:rPr>
                <a:solidFill>
                  <a:srgbClr val="F8FAFC"/>
                </a:solidFill>
                <a:latin typeface="Aptos"/>
              </a:rPr>
              <a:t>Additional measurements: selected transformations, benign-call preservation and guard-only latency.</a:t>
            </a:r>
          </a:p>
          <a:p>
            <a:r>
              <a:rPr>
                <a:solidFill>
                  <a:srgbClr val="F8FAFC"/>
                </a:solidFill>
                <a:latin typeface="Aptos"/>
              </a:rPr>
              <a:t>Closest framing: a narrow, transparent prototype evaluation—not a general prompt-injection solution.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2ABEBE"/>
                </a:solidFill>
                <a:latin typeface="Aptos"/>
              </a:rPr>
              <a:t>08 · CRITICAL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Limitations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2A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303520" cy="3291840"/>
          </a:xfrm>
          <a:prstGeom prst="roundRect">
            <a:avLst/>
          </a:prstGeom>
          <a:solidFill>
            <a:srgbClr val="1C2D46"/>
          </a:solidFill>
          <a:ln>
            <a:solidFill>
              <a:srgbClr val="34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182880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58568"/>
            <a:ext cx="493775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• One local model setup</a:t>
            </a:r>
            <a:br/>
            <a:r>
              <a:rPr>
                <a:solidFill>
                  <a:srgbClr val="F8FAFC"/>
                </a:solidFill>
                <a:latin typeface="Aptos"/>
              </a:rPr>
              <a:t>• Small, constructed datasets</a:t>
            </a:r>
            <a:br/>
            <a:r>
              <a:rPr>
                <a:solidFill>
                  <a:srgbClr val="F8FAFC"/>
                </a:solidFill>
                <a:latin typeface="Aptos"/>
              </a:rPr>
              <a:t>• String-based detector misses semantic/paraphrased or canary-free attacks</a:t>
            </a:r>
            <a:br/>
            <a:r>
              <a:rPr>
                <a:solidFill>
                  <a:srgbClr val="F8FAFC"/>
                </a:solidFill>
                <a:latin typeface="Aptos"/>
              </a:rPr>
              <a:t>• Guard-only timing excludes LLM and tool latency</a:t>
            </a:r>
            <a:br/>
            <a:r>
              <a:rPr>
                <a:solidFill>
                  <a:srgbClr val="F8FAFC"/>
                </a:solidFill>
                <a:latin typeface="Aptos"/>
              </a:rPr>
              <a:t>• Zero observed false positives is not zero population FPR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303520" cy="3291840"/>
          </a:xfrm>
          <a:prstGeom prst="roundRect">
            <a:avLst/>
          </a:prstGeom>
          <a:solidFill>
            <a:srgbClr val="1C2D46"/>
          </a:solidFill>
          <a:ln>
            <a:solidFill>
              <a:srgbClr val="34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58568"/>
            <a:ext cx="493775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• Freeze guard before an independent holdout</a:t>
            </a:r>
            <a:br/>
            <a:r>
              <a:rPr>
                <a:solidFill>
                  <a:srgbClr val="F8FAFC"/>
                </a:solidFill>
                <a:latin typeface="Aptos"/>
              </a:rPr>
              <a:t>• Test multiple models and benchmarks</a:t>
            </a:r>
            <a:br/>
            <a:r>
              <a:rPr>
                <a:solidFill>
                  <a:srgbClr val="F8FAFC"/>
                </a:solidFill>
                <a:latin typeface="Aptos"/>
              </a:rPr>
              <a:t>• Add confidence intervals and per-scenario metrics</a:t>
            </a:r>
            <a:br/>
            <a:r>
              <a:rPr>
                <a:solidFill>
                  <a:srgbClr val="F8FAFC"/>
                </a:solidFill>
                <a:latin typeface="Aptos"/>
              </a:rPr>
              <a:t>• Enforce schemas, authorization and tool-specific policies</a:t>
            </a:r>
            <a:br/>
            <a:r>
              <a:rPr>
                <a:solidFill>
                  <a:srgbClr val="F8FAFC"/>
                </a:solidFill>
                <a:latin typeface="Aptos"/>
              </a:rPr>
              <a:t>• Measure end-to-end latency and task utility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Use layered security: canary checks complement, rather than replace, authorization and policy controls.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2ABEBE"/>
                </a:solidFill>
                <a:latin typeface="Aptos"/>
              </a:rPr>
              <a:t>09 ·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Pre-dispatch inspection matters.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Output filtering can block final text but cannot undo a tool call already dispatched.</a:t>
            </a:r>
          </a:p>
          <a:p>
            <a:r>
              <a:rPr>
                <a:solidFill>
                  <a:srgbClr val="F8FAFC"/>
                </a:solidFill>
                <a:latin typeface="Aptos"/>
              </a:rPr>
              <a:t>In the tested canary-bearing scenarios, boundary + output enforcement stopped the call before mock execution.</a:t>
            </a:r>
          </a:p>
          <a:p>
            <a:r>
              <a:rPr>
                <a:solidFill>
                  <a:srgbClr val="F8FAFC"/>
                </a:solidFill>
                <a:latin typeface="Aptos"/>
              </a:rPr>
              <a:t>Results support layered enforcement for this narrow threat model, with broader independent testing still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2ABEBE"/>
                </a:solidFill>
                <a:latin typeface="Aptos"/>
              </a:rPr>
              <a:t>Thank you  |  Questions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2ABEBE"/>
                </a:solidFill>
                <a:latin typeface="Aptos"/>
              </a:rPr>
              <a:t>10 ·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Selected literature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005840" cy="50292"/>
          </a:xfrm>
          <a:prstGeom prst="rect">
            <a:avLst/>
          </a:prstGeom>
          <a:solidFill>
            <a:srgbClr val="2A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8FAFC"/>
                </a:solidFill>
                <a:latin typeface="Aptos"/>
              </a:rPr>
              <a:t>Gakh &amp; Bahsi (2026), Early detection systems. doi:10.1007/s10207-026-01338-7</a:t>
            </a:r>
          </a:p>
          <a:p>
            <a:r>
              <a:rPr>
                <a:solidFill>
                  <a:srgbClr val="F8FAFC"/>
                </a:solidFill>
                <a:latin typeface="Aptos"/>
              </a:rPr>
              <a:t>Cloak, Honey, Trap (USENIX Security 2025). usenix.org/conference/usenixsecurity25/presentation/ayzenshteyn</a:t>
            </a:r>
          </a:p>
          <a:p>
            <a:r>
              <a:rPr>
                <a:solidFill>
                  <a:srgbClr val="F8FAFC"/>
                </a:solidFill>
                <a:latin typeface="Aptos"/>
              </a:rPr>
              <a:t>ClawGuard (2026). arxiv.org/abs/2604.11790</a:t>
            </a:r>
          </a:p>
          <a:p>
            <a:r>
              <a:rPr>
                <a:solidFill>
                  <a:srgbClr val="F8FAFC"/>
                </a:solidFill>
                <a:latin typeface="Aptos"/>
              </a:rPr>
              <a:t>SecureClaw (2026). arxiv.org/abs/2606.09549</a:t>
            </a:r>
          </a:p>
          <a:p>
            <a:r>
              <a:rPr>
                <a:solidFill>
                  <a:srgbClr val="F8FAFC"/>
                </a:solidFill>
                <a:latin typeface="Aptos"/>
              </a:rPr>
              <a:t>Task Shield (ACL 2025). doi:10.18653/v1/2025.acl-long.1435</a:t>
            </a:r>
          </a:p>
          <a:p>
            <a:r>
              <a:rPr>
                <a:solidFill>
                  <a:srgbClr val="F8FAFC"/>
                </a:solidFill>
                <a:latin typeface="Aptos"/>
              </a:rPr>
              <a:t>HoneyWire (2026 working paper). tu-eisenfeld.de/en/library/publications/honeywire-prompt-injection-detection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893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1C0D1"/>
                </a:solidFill>
              </a:defRPr>
            </a:pPr>
            <a:r>
              <a:rPr>
                <a:solidFill>
                  <a:srgbClr val="BECCDC"/>
                </a:solidFill>
                <a:latin typeface="Aptos"/>
              </a:rPr>
              <a:t>Audit note: headline counts recalculated from currently available CSVs; source code/tests and newer stress-test artifacts still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